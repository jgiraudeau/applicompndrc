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charts/colors5.xml" ContentType="application/vnd.ms-office.chartcolor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style2.xml" ContentType="application/vnd.ms-office.chartstyle+xml"/>
  <Override PartName="/ppt/charts/chart2.xml" ContentType="application/vnd.openxmlformats-officedocument.drawingml.char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hart6.xml" ContentType="application/vnd.openxmlformats-officedocument.drawingml.chart+xml"/>
  <Override PartName="/ppt/charts/style4.xml" ContentType="application/vnd.ms-office.chartstyle+xml"/>
  <Override PartName="/ppt/charts/chart5.xml" ContentType="application/vnd.openxmlformats-officedocument.drawingml.chart+xml"/>
  <Override PartName="/ppt/charts/colors4.xml" ContentType="application/vnd.ms-office.chartcolorstyl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688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Les visiteurs interrogés</a:t>
            </a:r>
          </a:p>
        </c:rich>
      </c:tx>
      <c:layout>
        <c:manualLayout>
          <c:xMode val="edge"/>
          <c:yMode val="edge"/>
          <c:x val="0.34039566929133858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explosion val="5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8CF-405A-80F8-DBE02C66CEB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8CF-405A-80F8-DBE02C66CEB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E8CF-405A-80F8-DBE02C66CEB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E8CF-405A-80F8-DBE02C66CEB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'graphiques '!$AC$3:$AC$6</c:f>
              <c:strCache>
                <c:ptCount val="4"/>
                <c:pt idx="0">
                  <c:v>En couple </c:v>
                </c:pt>
                <c:pt idx="1">
                  <c:v>Seul </c:v>
                </c:pt>
                <c:pt idx="2">
                  <c:v>En famille </c:v>
                </c:pt>
                <c:pt idx="3">
                  <c:v>Avec un groupe </c:v>
                </c:pt>
              </c:strCache>
            </c:strRef>
          </c:cat>
          <c:val>
            <c:numRef>
              <c:f>'graphiques '!$AD$3:$AD$6</c:f>
              <c:numCache>
                <c:formatCode>General</c:formatCode>
                <c:ptCount val="4"/>
                <c:pt idx="0">
                  <c:v>60</c:v>
                </c:pt>
                <c:pt idx="1">
                  <c:v>16</c:v>
                </c:pt>
                <c:pt idx="2">
                  <c:v>142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8CF-405A-80F8-DBE02C66CE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Provenance</a:t>
            </a:r>
            <a:r>
              <a:rPr lang="fr-FR" baseline="0"/>
              <a:t> des visiteurs</a:t>
            </a:r>
            <a:endParaRPr lang="fr-F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5309-4A9F-8CF7-1A1F1863D94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5309-4A9F-8CF7-1A1F1863D94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5309-4A9F-8CF7-1A1F1863D94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5309-4A9F-8CF7-1A1F1863D94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'graphiques '!$AI$3:$AI$6</c:f>
              <c:strCache>
                <c:ptCount val="4"/>
                <c:pt idx="0">
                  <c:v>France métropolitaine </c:v>
                </c:pt>
                <c:pt idx="1">
                  <c:v>Martinique </c:v>
                </c:pt>
                <c:pt idx="2">
                  <c:v>Guadeloupe </c:v>
                </c:pt>
                <c:pt idx="3">
                  <c:v>Autres </c:v>
                </c:pt>
              </c:strCache>
            </c:strRef>
          </c:cat>
          <c:val>
            <c:numRef>
              <c:f>'graphiques '!$AJ$3:$AJ$6</c:f>
              <c:numCache>
                <c:formatCode>General</c:formatCode>
                <c:ptCount val="4"/>
                <c:pt idx="0">
                  <c:v>175</c:v>
                </c:pt>
                <c:pt idx="1">
                  <c:v>12</c:v>
                </c:pt>
                <c:pt idx="2">
                  <c:v>24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309-4A9F-8CF7-1A1F1863D9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Intérêt de la visite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3D2-4011-95E9-2E60D35B449F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3D2-4011-95E9-2E60D35B449F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3D2-4011-95E9-2E60D35B449F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13D2-4011-95E9-2E60D35B449F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13D2-4011-95E9-2E60D35B449F}"/>
              </c:ext>
            </c:extLst>
          </c:dPt>
          <c:dLbls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3D2-4011-95E9-2E60D35B449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'graphiques '!$A$3:$A$7</c:f>
              <c:strCache>
                <c:ptCount val="5"/>
                <c:pt idx="0">
                  <c:v>Très intéressante</c:v>
                </c:pt>
                <c:pt idx="1">
                  <c:v>Intéressante </c:v>
                </c:pt>
                <c:pt idx="2">
                  <c:v>Sans opinion</c:v>
                </c:pt>
                <c:pt idx="3">
                  <c:v>Peu intéressante</c:v>
                </c:pt>
                <c:pt idx="4">
                  <c:v>Totalement inintéressante </c:v>
                </c:pt>
              </c:strCache>
            </c:strRef>
          </c:cat>
          <c:val>
            <c:numRef>
              <c:f>'graphiques '!$B$3:$B$7</c:f>
              <c:numCache>
                <c:formatCode>General</c:formatCode>
                <c:ptCount val="5"/>
                <c:pt idx="0">
                  <c:v>125</c:v>
                </c:pt>
                <c:pt idx="1">
                  <c:v>87</c:v>
                </c:pt>
                <c:pt idx="2">
                  <c:v>1</c:v>
                </c:pt>
                <c:pt idx="3">
                  <c:v>9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3D2-4011-95E9-2E60D35B44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Temps de visite du domaine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8880-450C-A414-F2AF186A65D1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8880-450C-A414-F2AF186A65D1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8880-450C-A414-F2AF186A65D1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8880-450C-A414-F2AF186A65D1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8880-450C-A414-F2AF186A65D1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880-450C-A414-F2AF186A65D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'graphiques '!$G$3:$G$7</c:f>
              <c:strCache>
                <c:ptCount val="5"/>
                <c:pt idx="0">
                  <c:v>Moins d’1 heure </c:v>
                </c:pt>
                <c:pt idx="1">
                  <c:v>Entre 1 heure et 1 heure 30 </c:v>
                </c:pt>
                <c:pt idx="2">
                  <c:v>Entre 1 heure 30 et 2 heures </c:v>
                </c:pt>
                <c:pt idx="3">
                  <c:v>Entre 2 heures et 2 heures 30 </c:v>
                </c:pt>
                <c:pt idx="4">
                  <c:v>Plus de 2 heures 30 </c:v>
                </c:pt>
              </c:strCache>
            </c:strRef>
          </c:cat>
          <c:val>
            <c:numRef>
              <c:f>'graphiques '!$H$3:$H$7</c:f>
              <c:numCache>
                <c:formatCode>General</c:formatCode>
                <c:ptCount val="5"/>
                <c:pt idx="0">
                  <c:v>4</c:v>
                </c:pt>
                <c:pt idx="1">
                  <c:v>24</c:v>
                </c:pt>
                <c:pt idx="2">
                  <c:v>109</c:v>
                </c:pt>
                <c:pt idx="3">
                  <c:v>73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880-450C-A414-F2AF186A65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Intérêt pour une visite guidée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explosion val="3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333F-4DEE-B581-B71AB5056C8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333F-4DEE-B581-B71AB5056C8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333F-4DEE-B581-B71AB5056C89}"/>
              </c:ext>
            </c:extLst>
          </c:dPt>
          <c:dLbls>
            <c:dLbl>
              <c:idx val="0"/>
              <c:layout>
                <c:manualLayout>
                  <c:x val="-4.0905839895013126E-2"/>
                  <c:y val="-2.8093832020997377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3F-4DEE-B581-B71AB5056C89}"/>
                </c:ext>
              </c:extLst>
            </c:dLbl>
            <c:dLbl>
              <c:idx val="1"/>
              <c:layout>
                <c:manualLayout>
                  <c:x val="3.3366251093613297E-2"/>
                  <c:y val="-8.0818022747156604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3F-4DEE-B581-B71AB5056C89}"/>
                </c:ext>
              </c:extLst>
            </c:dLbl>
            <c:dLbl>
              <c:idx val="2"/>
              <c:layout>
                <c:manualLayout>
                  <c:x val="4.302165354330709E-3"/>
                  <c:y val="-2.8977836103820355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33F-4DEE-B581-B71AB5056C8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'graphiques '!$L$3:$L$5</c:f>
              <c:strCache>
                <c:ptCount val="3"/>
                <c:pt idx="0">
                  <c:v>Oui, sûrement</c:v>
                </c:pt>
                <c:pt idx="1">
                  <c:v>Oui, à condition</c:v>
                </c:pt>
                <c:pt idx="2">
                  <c:v>Non, sûrement pas</c:v>
                </c:pt>
              </c:strCache>
            </c:strRef>
          </c:cat>
          <c:val>
            <c:numRef>
              <c:f>'graphiques '!$M$3:$M$5</c:f>
              <c:numCache>
                <c:formatCode>General</c:formatCode>
                <c:ptCount val="3"/>
                <c:pt idx="0">
                  <c:v>33</c:v>
                </c:pt>
                <c:pt idx="1">
                  <c:v>87</c:v>
                </c:pt>
                <c:pt idx="2">
                  <c:v>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33F-4DEE-B581-B71AB5056C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[Réponses-questionnaire-corrigéChapitre12.xlsx]Q4-Q9!Tableau croisé dynamique2</c:name>
    <c:fmtId val="4"/>
  </c:pivotSource>
  <c:chart>
    <c:autoTitleDeleted val="0"/>
    <c:pivotFmts>
      <c:pivotFmt>
        <c:idx val="0"/>
        <c:marker>
          <c:symbol val="none"/>
        </c:marker>
      </c:pivotFmt>
      <c:pivotFmt>
        <c:idx val="1"/>
        <c:marker>
          <c:symbol val="none"/>
        </c:marker>
      </c:pivotFmt>
      <c:pivotFmt>
        <c:idx val="2"/>
        <c:marker>
          <c:symbol val="none"/>
        </c:marker>
      </c:pivotFmt>
      <c:pivotFmt>
        <c:idx val="3"/>
        <c:marker>
          <c:symbol val="none"/>
        </c:marker>
      </c:pivotFmt>
      <c:pivotFmt>
        <c:idx val="4"/>
        <c:marker>
          <c:symbol val="none"/>
        </c:marker>
      </c:pivotFmt>
      <c:pivotFmt>
        <c:idx val="5"/>
        <c:marker>
          <c:symbol val="none"/>
        </c:marker>
      </c:pivotFmt>
      <c:pivotFmt>
        <c:idx val="6"/>
        <c:marker>
          <c:symbol val="none"/>
        </c:marker>
      </c:pivotFmt>
      <c:pivotFmt>
        <c:idx val="7"/>
        <c:marker>
          <c:symbol val="none"/>
        </c:marker>
      </c:pivotFmt>
      <c:pivotFmt>
        <c:idx val="8"/>
        <c:marker>
          <c:symbol val="none"/>
        </c:marker>
      </c:pivotFmt>
      <c:pivotFmt>
        <c:idx val="9"/>
        <c:marker>
          <c:symbol val="none"/>
        </c:marker>
      </c:pivotFmt>
      <c:pivotFmt>
        <c:idx val="10"/>
        <c:marker>
          <c:symbol val="none"/>
        </c:marker>
      </c:pivotFmt>
      <c:pivotFmt>
        <c:idx val="11"/>
        <c:marker>
          <c:symbol val="none"/>
        </c:marker>
      </c:pivotFmt>
      <c:pivotFmt>
        <c:idx val="12"/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'Q4-Q9'!$B$3:$B$4</c:f>
              <c:strCache>
                <c:ptCount val="1"/>
                <c:pt idx="0">
                  <c:v>Avec un groupe</c:v>
                </c:pt>
              </c:strCache>
            </c:strRef>
          </c:tx>
          <c:invertIfNegative val="0"/>
          <c:cat>
            <c:strRef>
              <c:f>'Q4-Q9'!$A$5:$A$8</c:f>
              <c:strCache>
                <c:ptCount val="3"/>
                <c:pt idx="0">
                  <c:v>Non, sûrement pas </c:v>
                </c:pt>
                <c:pt idx="1">
                  <c:v>Oui, à condition </c:v>
                </c:pt>
                <c:pt idx="2">
                  <c:v>Oui, sûrement </c:v>
                </c:pt>
              </c:strCache>
            </c:strRef>
          </c:cat>
          <c:val>
            <c:numRef>
              <c:f>'Q4-Q9'!$B$5:$B$8</c:f>
              <c:numCache>
                <c:formatCode>0%</c:formatCode>
                <c:ptCount val="3"/>
                <c:pt idx="0">
                  <c:v>1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54-4E88-A4EB-D70B507A8FF0}"/>
            </c:ext>
          </c:extLst>
        </c:ser>
        <c:ser>
          <c:idx val="1"/>
          <c:order val="1"/>
          <c:tx>
            <c:strRef>
              <c:f>'Q4-Q9'!$C$3:$C$4</c:f>
              <c:strCache>
                <c:ptCount val="1"/>
                <c:pt idx="0">
                  <c:v>En couple</c:v>
                </c:pt>
              </c:strCache>
            </c:strRef>
          </c:tx>
          <c:invertIfNegative val="0"/>
          <c:cat>
            <c:strRef>
              <c:f>'Q4-Q9'!$A$5:$A$8</c:f>
              <c:strCache>
                <c:ptCount val="3"/>
                <c:pt idx="0">
                  <c:v>Non, sûrement pas </c:v>
                </c:pt>
                <c:pt idx="1">
                  <c:v>Oui, à condition </c:v>
                </c:pt>
                <c:pt idx="2">
                  <c:v>Oui, sûrement </c:v>
                </c:pt>
              </c:strCache>
            </c:strRef>
          </c:cat>
          <c:val>
            <c:numRef>
              <c:f>'Q4-Q9'!$C$5:$C$8</c:f>
              <c:numCache>
                <c:formatCode>0%</c:formatCode>
                <c:ptCount val="3"/>
                <c:pt idx="0">
                  <c:v>0.34426229508196721</c:v>
                </c:pt>
                <c:pt idx="1">
                  <c:v>0.45901639344262296</c:v>
                </c:pt>
                <c:pt idx="2">
                  <c:v>0.19672131147540983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54-4E88-A4EB-D70B507A8FF0}"/>
            </c:ext>
          </c:extLst>
        </c:ser>
        <c:ser>
          <c:idx val="2"/>
          <c:order val="2"/>
          <c:tx>
            <c:strRef>
              <c:f>'Q4-Q9'!$D$3:$D$4</c:f>
              <c:strCache>
                <c:ptCount val="1"/>
                <c:pt idx="0">
                  <c:v>En famille</c:v>
                </c:pt>
              </c:strCache>
            </c:strRef>
          </c:tx>
          <c:invertIfNegative val="0"/>
          <c:cat>
            <c:strRef>
              <c:f>'Q4-Q9'!$A$5:$A$8</c:f>
              <c:strCache>
                <c:ptCount val="3"/>
                <c:pt idx="0">
                  <c:v>Non, sûrement pas </c:v>
                </c:pt>
                <c:pt idx="1">
                  <c:v>Oui, à condition </c:v>
                </c:pt>
                <c:pt idx="2">
                  <c:v>Oui, sûrement </c:v>
                </c:pt>
              </c:strCache>
            </c:strRef>
          </c:cat>
          <c:val>
            <c:numRef>
              <c:f>'Q4-Q9'!$D$5:$D$8</c:f>
              <c:numCache>
                <c:formatCode>0%</c:formatCode>
                <c:ptCount val="3"/>
                <c:pt idx="0">
                  <c:v>0.38732394366197181</c:v>
                </c:pt>
                <c:pt idx="1">
                  <c:v>0.47183098591549294</c:v>
                </c:pt>
                <c:pt idx="2">
                  <c:v>0.14084507042253522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C54-4E88-A4EB-D70B507A8FF0}"/>
            </c:ext>
          </c:extLst>
        </c:ser>
        <c:ser>
          <c:idx val="3"/>
          <c:order val="3"/>
          <c:tx>
            <c:strRef>
              <c:f>'Q4-Q9'!$E$3:$E$4</c:f>
              <c:strCache>
                <c:ptCount val="1"/>
                <c:pt idx="0">
                  <c:v>Seul</c:v>
                </c:pt>
              </c:strCache>
            </c:strRef>
          </c:tx>
          <c:invertIfNegative val="0"/>
          <c:cat>
            <c:strRef>
              <c:f>'Q4-Q9'!$A$5:$A$8</c:f>
              <c:strCache>
                <c:ptCount val="3"/>
                <c:pt idx="0">
                  <c:v>Non, sûrement pas </c:v>
                </c:pt>
                <c:pt idx="1">
                  <c:v>Oui, à condition </c:v>
                </c:pt>
                <c:pt idx="2">
                  <c:v>Oui, sûrement </c:v>
                </c:pt>
              </c:strCache>
            </c:strRef>
          </c:cat>
          <c:val>
            <c:numRef>
              <c:f>'Q4-Q9'!$E$5:$E$8</c:f>
              <c:numCache>
                <c:formatCode>0%</c:formatCode>
                <c:ptCount val="3"/>
                <c:pt idx="0">
                  <c:v>0.52941176470588236</c:v>
                </c:pt>
                <c:pt idx="1">
                  <c:v>0.35294117647058826</c:v>
                </c:pt>
                <c:pt idx="2">
                  <c:v>0.11764705882352941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C54-4E88-A4EB-D70B507A8F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4315520"/>
        <c:axId val="144317056"/>
      </c:barChart>
      <c:catAx>
        <c:axId val="14431552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44317056"/>
        <c:crosses val="autoZero"/>
        <c:auto val="1"/>
        <c:lblAlgn val="ctr"/>
        <c:lblOffset val="100"/>
        <c:noMultiLvlLbl val="0"/>
      </c:catAx>
      <c:valAx>
        <c:axId val="14431705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4431552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5147353455818022"/>
          <c:y val="0.26755869058034415"/>
          <c:w val="0.23684923490523951"/>
          <c:h val="0.33486876640419949"/>
        </c:manualLayout>
      </c:layout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3075" name="Rectangle 3"/>
            <p:cNvSpPr>
              <a:spLocks noChangeArrowheads="1"/>
            </p:cNvSpPr>
            <p:nvPr/>
          </p:nvSpPr>
          <p:spPr bwMode="auto">
            <a:xfrm>
              <a:off x="1968" y="4224"/>
              <a:ext cx="3792" cy="96"/>
            </a:xfrm>
            <a:prstGeom prst="rect">
              <a:avLst/>
            </a:prstGeom>
            <a:gradFill rotWithShape="0">
              <a:gsLst>
                <a:gs pos="0">
                  <a:srgbClr val="EBD7FF"/>
                </a:gs>
                <a:gs pos="100000">
                  <a:srgbClr val="0099FF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76" name="Rectangle 4"/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rgbClr val="C1E7CE"/>
                </a:gs>
                <a:gs pos="100000">
                  <a:srgbClr val="339966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77" name="Rectangle 5"/>
            <p:cNvSpPr>
              <a:spLocks noChangeArrowheads="1"/>
            </p:cNvSpPr>
            <p:nvPr/>
          </p:nvSpPr>
          <p:spPr bwMode="auto">
            <a:xfrm>
              <a:off x="0" y="3312"/>
              <a:ext cx="288" cy="9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78" name="Rectangle 6"/>
            <p:cNvSpPr>
              <a:spLocks noChangeArrowheads="1"/>
            </p:cNvSpPr>
            <p:nvPr/>
          </p:nvSpPr>
          <p:spPr bwMode="auto">
            <a:xfrm>
              <a:off x="0" y="3408"/>
              <a:ext cx="288" cy="912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79" name="Rectangle 7"/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80" name="Rectangle 8"/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solidFill>
              <a:srgbClr val="CAC9A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81" name="Rectangle 9"/>
            <p:cNvSpPr>
              <a:spLocks noChangeArrowheads="1"/>
            </p:cNvSpPr>
            <p:nvPr/>
          </p:nvSpPr>
          <p:spPr bwMode="auto">
            <a:xfrm>
              <a:off x="288" y="192"/>
              <a:ext cx="336" cy="480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82" name="Rectangle 10"/>
            <p:cNvSpPr>
              <a:spLocks noChangeArrowheads="1"/>
            </p:cNvSpPr>
            <p:nvPr/>
          </p:nvSpPr>
          <p:spPr bwMode="auto">
            <a:xfrm>
              <a:off x="0" y="672"/>
              <a:ext cx="288" cy="2640"/>
            </a:xfrm>
            <a:prstGeom prst="rect">
              <a:avLst/>
            </a:prstGeom>
            <a:gradFill rotWithShape="0">
              <a:gsLst>
                <a:gs pos="0">
                  <a:srgbClr val="C1AE8F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83" name="Rectangle 11"/>
            <p:cNvSpPr>
              <a:spLocks noChangeArrowheads="1"/>
            </p:cNvSpPr>
            <p:nvPr/>
          </p:nvSpPr>
          <p:spPr bwMode="auto">
            <a:xfrm>
              <a:off x="0" y="192"/>
              <a:ext cx="288" cy="4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84" name="Rectangle 12"/>
            <p:cNvSpPr>
              <a:spLocks noChangeArrowheads="1"/>
            </p:cNvSpPr>
            <p:nvPr/>
          </p:nvSpPr>
          <p:spPr bwMode="auto">
            <a:xfrm>
              <a:off x="0" y="0"/>
              <a:ext cx="624" cy="192"/>
            </a:xfrm>
            <a:prstGeom prst="rect">
              <a:avLst/>
            </a:prstGeom>
            <a:solidFill>
              <a:srgbClr val="99CC00"/>
            </a:solidFill>
            <a:ln w="19050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85" name="Rectangle 13"/>
            <p:cNvSpPr>
              <a:spLocks noChangeArrowheads="1"/>
            </p:cNvSpPr>
            <p:nvPr/>
          </p:nvSpPr>
          <p:spPr bwMode="auto">
            <a:xfrm>
              <a:off x="624" y="0"/>
              <a:ext cx="2976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3086" name="Line 14"/>
            <p:cNvSpPr>
              <a:spLocks noChangeShapeType="1"/>
            </p:cNvSpPr>
            <p:nvPr/>
          </p:nvSpPr>
          <p:spPr bwMode="auto">
            <a:xfrm flipV="1">
              <a:off x="288" y="192"/>
              <a:ext cx="0" cy="4128"/>
            </a:xfrm>
            <a:prstGeom prst="line">
              <a:avLst/>
            </a:prstGeom>
            <a:noFill/>
            <a:ln w="762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87" name="Line 15"/>
            <p:cNvSpPr>
              <a:spLocks noChangeShapeType="1"/>
            </p:cNvSpPr>
            <p:nvPr/>
          </p:nvSpPr>
          <p:spPr bwMode="auto">
            <a:xfrm>
              <a:off x="288" y="4224"/>
              <a:ext cx="5472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88" name="Line 16"/>
            <p:cNvSpPr>
              <a:spLocks noChangeShapeType="1"/>
            </p:cNvSpPr>
            <p:nvPr/>
          </p:nvSpPr>
          <p:spPr bwMode="auto">
            <a:xfrm flipV="1">
              <a:off x="5520" y="0"/>
              <a:ext cx="0" cy="4224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89" name="Line 17"/>
            <p:cNvSpPr>
              <a:spLocks noChangeShapeType="1"/>
            </p:cNvSpPr>
            <p:nvPr/>
          </p:nvSpPr>
          <p:spPr bwMode="auto">
            <a:xfrm>
              <a:off x="0" y="192"/>
              <a:ext cx="5760" cy="0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90" name="Line 18"/>
            <p:cNvSpPr>
              <a:spLocks noChangeShapeType="1"/>
            </p:cNvSpPr>
            <p:nvPr/>
          </p:nvSpPr>
          <p:spPr bwMode="auto">
            <a:xfrm flipH="1">
              <a:off x="3600" y="288"/>
              <a:ext cx="2160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91" name="Line 19"/>
            <p:cNvSpPr>
              <a:spLocks noChangeShapeType="1"/>
            </p:cNvSpPr>
            <p:nvPr/>
          </p:nvSpPr>
          <p:spPr bwMode="auto">
            <a:xfrm flipV="1">
              <a:off x="3600" y="0"/>
              <a:ext cx="0" cy="288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92" name="Line 20"/>
            <p:cNvSpPr>
              <a:spLocks noChangeShapeType="1"/>
            </p:cNvSpPr>
            <p:nvPr/>
          </p:nvSpPr>
          <p:spPr bwMode="auto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93" name="Line 21"/>
            <p:cNvSpPr>
              <a:spLocks noChangeShapeType="1"/>
            </p:cNvSpPr>
            <p:nvPr/>
          </p:nvSpPr>
          <p:spPr bwMode="auto">
            <a:xfrm>
              <a:off x="624" y="0"/>
              <a:ext cx="0" cy="672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94" name="Line 22"/>
            <p:cNvSpPr>
              <a:spLocks noChangeShapeType="1"/>
            </p:cNvSpPr>
            <p:nvPr/>
          </p:nvSpPr>
          <p:spPr bwMode="auto">
            <a:xfrm flipH="1">
              <a:off x="0" y="672"/>
              <a:ext cx="624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95" name="Line 23"/>
            <p:cNvSpPr>
              <a:spLocks noChangeShapeType="1"/>
            </p:cNvSpPr>
            <p:nvPr/>
          </p:nvSpPr>
          <p:spPr bwMode="auto">
            <a:xfrm flipV="1">
              <a:off x="1680" y="3936"/>
              <a:ext cx="0" cy="384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96" name="Line 24"/>
            <p:cNvSpPr>
              <a:spLocks noChangeShapeType="1"/>
            </p:cNvSpPr>
            <p:nvPr/>
          </p:nvSpPr>
          <p:spPr bwMode="auto">
            <a:xfrm>
              <a:off x="1680" y="3936"/>
              <a:ext cx="4080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97" name="Line 25"/>
            <p:cNvSpPr>
              <a:spLocks noChangeShapeType="1"/>
            </p:cNvSpPr>
            <p:nvPr/>
          </p:nvSpPr>
          <p:spPr bwMode="auto">
            <a:xfrm flipH="1">
              <a:off x="0" y="3312"/>
              <a:ext cx="288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3098" name="Line 26"/>
            <p:cNvSpPr>
              <a:spLocks noChangeShapeType="1"/>
            </p:cNvSpPr>
            <p:nvPr/>
          </p:nvSpPr>
          <p:spPr bwMode="auto">
            <a:xfrm flipH="1">
              <a:off x="0" y="3408"/>
              <a:ext cx="288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</p:grpSp>
      <p:sp>
        <p:nvSpPr>
          <p:cNvPr id="3099" name="Rectangle 27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100" name="Rectangle 28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Century Gothic" pitchFamily="34" charset="0"/>
              <a:buNone/>
              <a:defRPr sz="2800"/>
            </a:lvl1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3104" name="Rectangle 32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dirty="0"/>
          </a:p>
        </p:txBody>
      </p:sp>
      <p:sp>
        <p:nvSpPr>
          <p:cNvPr id="3105" name="Rectangle 33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106" name="Rectangle 34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64276"/>
            <a:ext cx="2844800" cy="384175"/>
          </a:xfrm>
        </p:spPr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AB88A06A-685D-4387-B524-495E93F13B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  <a:effectLst>
            <a:glow rad="127000">
              <a:schemeClr val="accent1"/>
            </a:glow>
            <a:outerShdw blurRad="50800" dist="50800" dir="5400000" algn="ctr" rotWithShape="0">
              <a:srgbClr val="000000">
                <a:alpha val="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6647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4F509-D65B-44F6-BFED-9F95B48861A8}" type="datetimeFigureOut">
              <a:rPr lang="fr-FR" smtClean="0"/>
              <a:t>08/10/2018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1294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4F509-D65B-44F6-BFED-9F95B48861A8}" type="datetimeFigureOut">
              <a:rPr lang="fr-FR" smtClean="0"/>
              <a:t>08/10/2018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2069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4F509-D65B-44F6-BFED-9F95B48861A8}" type="datetimeFigureOut">
              <a:rPr lang="fr-FR" smtClean="0"/>
              <a:t>08/10/2018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1666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4F509-D65B-44F6-BFED-9F95B48861A8}" type="datetimeFigureOut">
              <a:rPr lang="fr-FR" smtClean="0"/>
              <a:t>08/10/2018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2551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4F509-D65B-44F6-BFED-9F95B48861A8}" type="datetimeFigureOut">
              <a:rPr lang="fr-FR" smtClean="0"/>
              <a:t>08/10/2018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2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4F509-D65B-44F6-BFED-9F95B48861A8}" type="datetimeFigureOut">
              <a:rPr lang="fr-FR" smtClean="0"/>
              <a:t>08/10/2018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6715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4F509-D65B-44F6-BFED-9F95B48861A8}" type="datetimeFigureOut">
              <a:rPr lang="fr-FR" smtClean="0"/>
              <a:t>08/10/2018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8826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4F509-D65B-44F6-BFED-9F95B48861A8}" type="datetimeFigureOut">
              <a:rPr lang="fr-FR" smtClean="0"/>
              <a:t>08/10/2018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9961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4F509-D65B-44F6-BFED-9F95B48861A8}" type="datetimeFigureOut">
              <a:rPr lang="fr-FR" smtClean="0"/>
              <a:t>08/10/2018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927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94F509-D65B-44F6-BFED-9F95B48861A8}" type="datetimeFigureOut">
              <a:rPr lang="fr-FR" smtClean="0"/>
              <a:t>08/10/2018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0944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CC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1968" y="4224"/>
              <a:ext cx="3792" cy="96"/>
            </a:xfrm>
            <a:prstGeom prst="rect">
              <a:avLst/>
            </a:prstGeom>
            <a:gradFill rotWithShape="0">
              <a:gsLst>
                <a:gs pos="0">
                  <a:srgbClr val="EBD7FF"/>
                </a:gs>
                <a:gs pos="100000">
                  <a:srgbClr val="0099FF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rgbClr val="C1E7CE"/>
                </a:gs>
                <a:gs pos="100000">
                  <a:srgbClr val="339966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34" name="Rectangle 10"/>
            <p:cNvSpPr>
              <a:spLocks noChangeArrowheads="1"/>
            </p:cNvSpPr>
            <p:nvPr/>
          </p:nvSpPr>
          <p:spPr bwMode="auto">
            <a:xfrm>
              <a:off x="0" y="3312"/>
              <a:ext cx="288" cy="9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35" name="Rectangle 11"/>
            <p:cNvSpPr>
              <a:spLocks noChangeArrowheads="1"/>
            </p:cNvSpPr>
            <p:nvPr/>
          </p:nvSpPr>
          <p:spPr bwMode="auto">
            <a:xfrm>
              <a:off x="0" y="3408"/>
              <a:ext cx="288" cy="912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36" name="Rectangle 12"/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solidFill>
              <a:srgbClr val="CAC9A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38" name="Rectangle 14"/>
            <p:cNvSpPr>
              <a:spLocks noChangeArrowheads="1"/>
            </p:cNvSpPr>
            <p:nvPr/>
          </p:nvSpPr>
          <p:spPr bwMode="auto">
            <a:xfrm>
              <a:off x="288" y="192"/>
              <a:ext cx="336" cy="480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39" name="Rectangle 15"/>
            <p:cNvSpPr>
              <a:spLocks noChangeArrowheads="1"/>
            </p:cNvSpPr>
            <p:nvPr/>
          </p:nvSpPr>
          <p:spPr bwMode="auto">
            <a:xfrm>
              <a:off x="0" y="672"/>
              <a:ext cx="288" cy="2640"/>
            </a:xfrm>
            <a:prstGeom prst="rect">
              <a:avLst/>
            </a:prstGeom>
            <a:gradFill rotWithShape="0">
              <a:gsLst>
                <a:gs pos="0">
                  <a:srgbClr val="C1AE8F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40" name="Rectangle 16"/>
            <p:cNvSpPr>
              <a:spLocks noChangeArrowheads="1"/>
            </p:cNvSpPr>
            <p:nvPr/>
          </p:nvSpPr>
          <p:spPr bwMode="auto">
            <a:xfrm>
              <a:off x="0" y="192"/>
              <a:ext cx="288" cy="48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41" name="Rectangle 17"/>
            <p:cNvSpPr>
              <a:spLocks noChangeArrowheads="1"/>
            </p:cNvSpPr>
            <p:nvPr/>
          </p:nvSpPr>
          <p:spPr bwMode="auto">
            <a:xfrm>
              <a:off x="0" y="0"/>
              <a:ext cx="624" cy="192"/>
            </a:xfrm>
            <a:prstGeom prst="rect">
              <a:avLst/>
            </a:prstGeom>
            <a:solidFill>
              <a:srgbClr val="99CC00"/>
            </a:solidFill>
            <a:ln w="19050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42" name="Rectangle 18"/>
            <p:cNvSpPr>
              <a:spLocks noChangeArrowheads="1"/>
            </p:cNvSpPr>
            <p:nvPr/>
          </p:nvSpPr>
          <p:spPr bwMode="auto">
            <a:xfrm>
              <a:off x="624" y="0"/>
              <a:ext cx="2976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fr-FR" sz="2400">
                <a:latin typeface="굴림" pitchFamily="50" charset="-127"/>
              </a:endParaRPr>
            </a:p>
          </p:txBody>
        </p:sp>
        <p:sp>
          <p:nvSpPr>
            <p:cNvPr id="1043" name="Line 19"/>
            <p:cNvSpPr>
              <a:spLocks noChangeShapeType="1"/>
            </p:cNvSpPr>
            <p:nvPr/>
          </p:nvSpPr>
          <p:spPr bwMode="auto">
            <a:xfrm flipV="1">
              <a:off x="288" y="192"/>
              <a:ext cx="0" cy="4128"/>
            </a:xfrm>
            <a:prstGeom prst="line">
              <a:avLst/>
            </a:prstGeom>
            <a:noFill/>
            <a:ln w="762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44" name="Line 20"/>
            <p:cNvSpPr>
              <a:spLocks noChangeShapeType="1"/>
            </p:cNvSpPr>
            <p:nvPr/>
          </p:nvSpPr>
          <p:spPr bwMode="auto">
            <a:xfrm>
              <a:off x="288" y="4224"/>
              <a:ext cx="5472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45" name="Line 21"/>
            <p:cNvSpPr>
              <a:spLocks noChangeShapeType="1"/>
            </p:cNvSpPr>
            <p:nvPr/>
          </p:nvSpPr>
          <p:spPr bwMode="auto">
            <a:xfrm flipV="1">
              <a:off x="5520" y="0"/>
              <a:ext cx="0" cy="4224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46" name="Line 22"/>
            <p:cNvSpPr>
              <a:spLocks noChangeShapeType="1"/>
            </p:cNvSpPr>
            <p:nvPr/>
          </p:nvSpPr>
          <p:spPr bwMode="auto">
            <a:xfrm>
              <a:off x="0" y="192"/>
              <a:ext cx="5760" cy="0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47" name="Line 23"/>
            <p:cNvSpPr>
              <a:spLocks noChangeShapeType="1"/>
            </p:cNvSpPr>
            <p:nvPr/>
          </p:nvSpPr>
          <p:spPr bwMode="auto">
            <a:xfrm flipH="1">
              <a:off x="3600" y="288"/>
              <a:ext cx="2160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48" name="Line 24"/>
            <p:cNvSpPr>
              <a:spLocks noChangeShapeType="1"/>
            </p:cNvSpPr>
            <p:nvPr/>
          </p:nvSpPr>
          <p:spPr bwMode="auto">
            <a:xfrm flipV="1">
              <a:off x="3600" y="0"/>
              <a:ext cx="0" cy="288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49" name="Line 25"/>
            <p:cNvSpPr>
              <a:spLocks noChangeShapeType="1"/>
            </p:cNvSpPr>
            <p:nvPr/>
          </p:nvSpPr>
          <p:spPr bwMode="auto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50" name="Line 26"/>
            <p:cNvSpPr>
              <a:spLocks noChangeShapeType="1"/>
            </p:cNvSpPr>
            <p:nvPr/>
          </p:nvSpPr>
          <p:spPr bwMode="auto">
            <a:xfrm>
              <a:off x="624" y="0"/>
              <a:ext cx="0" cy="672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51" name="Line 27"/>
            <p:cNvSpPr>
              <a:spLocks noChangeShapeType="1"/>
            </p:cNvSpPr>
            <p:nvPr/>
          </p:nvSpPr>
          <p:spPr bwMode="auto">
            <a:xfrm flipH="1">
              <a:off x="0" y="672"/>
              <a:ext cx="624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52" name="Line 28"/>
            <p:cNvSpPr>
              <a:spLocks noChangeShapeType="1"/>
            </p:cNvSpPr>
            <p:nvPr/>
          </p:nvSpPr>
          <p:spPr bwMode="auto">
            <a:xfrm flipV="1">
              <a:off x="1680" y="3936"/>
              <a:ext cx="0" cy="384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53" name="Line 29"/>
            <p:cNvSpPr>
              <a:spLocks noChangeShapeType="1"/>
            </p:cNvSpPr>
            <p:nvPr/>
          </p:nvSpPr>
          <p:spPr bwMode="auto">
            <a:xfrm>
              <a:off x="1680" y="3936"/>
              <a:ext cx="4080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54" name="Line 30"/>
            <p:cNvSpPr>
              <a:spLocks noChangeShapeType="1"/>
            </p:cNvSpPr>
            <p:nvPr/>
          </p:nvSpPr>
          <p:spPr bwMode="auto">
            <a:xfrm flipH="1">
              <a:off x="0" y="3312"/>
              <a:ext cx="288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  <p:sp>
          <p:nvSpPr>
            <p:cNvPr id="1055" name="Line 31"/>
            <p:cNvSpPr>
              <a:spLocks noChangeShapeType="1"/>
            </p:cNvSpPr>
            <p:nvPr/>
          </p:nvSpPr>
          <p:spPr bwMode="auto">
            <a:xfrm flipH="1">
              <a:off x="0" y="3408"/>
              <a:ext cx="288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sz="1800"/>
            </a:p>
          </p:txBody>
        </p:sp>
      </p:grp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64276"/>
            <a:ext cx="28448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64276"/>
            <a:ext cx="38608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67451"/>
            <a:ext cx="2844800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71D08DCD-CF70-49A1-8033-68078F300349}" type="slidenum">
              <a:rPr lang="fr-FR" smtClean="0"/>
              <a:t>‹N°›</a:t>
            </a:fld>
            <a:endParaRPr lang="fr-FR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1B308080-BCDB-462A-9893-F4E3FF166FF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042" y="5870731"/>
            <a:ext cx="3041787" cy="97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837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Century Gothic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Century Gothic" pitchFamily="34" charset="0"/>
        <a:buChar char="□"/>
        <a:defRPr sz="3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Century Gothic" pitchFamily="34" charset="0"/>
        <a:buChar char="□"/>
        <a:defRPr sz="2800">
          <a:solidFill>
            <a:schemeClr val="bg2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Century Gothic" pitchFamily="34" charset="0"/>
        <a:buChar char="□"/>
        <a:defRPr sz="2400">
          <a:solidFill>
            <a:schemeClr val="bg2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Century Gothic" pitchFamily="34" charset="0"/>
        <a:buChar char="□"/>
        <a:defRPr sz="2000">
          <a:solidFill>
            <a:schemeClr val="bg2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Century Gothic" pitchFamily="34" charset="0"/>
        <a:buChar char="□"/>
        <a:defRPr sz="2000">
          <a:solidFill>
            <a:schemeClr val="bg2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Century Gothic" pitchFamily="34" charset="0"/>
        <a:buChar char="□"/>
        <a:defRPr sz="2000">
          <a:solidFill>
            <a:schemeClr val="bg2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Century Gothic" pitchFamily="34" charset="0"/>
        <a:buChar char="□"/>
        <a:defRPr sz="2000">
          <a:solidFill>
            <a:schemeClr val="bg2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Century Gothic" pitchFamily="34" charset="0"/>
        <a:buChar char="□"/>
        <a:defRPr sz="2000">
          <a:solidFill>
            <a:schemeClr val="bg2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Century Gothic" pitchFamily="34" charset="0"/>
        <a:buChar char="□"/>
        <a:defRPr sz="2000">
          <a:solidFill>
            <a:schemeClr val="bg2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BE5DBD-608B-4780-998F-0ED4961EF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Réunion du 18 mars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ED7534-3276-45DE-AA74-71F71BFD1D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4000" dirty="0"/>
              <a:t>Proposition de visites guidées ? </a:t>
            </a:r>
          </a:p>
        </p:txBody>
      </p:sp>
    </p:spTree>
    <p:extLst>
      <p:ext uri="{BB962C8B-B14F-4D97-AF65-F5344CB8AC3E}">
        <p14:creationId xmlns:p14="http://schemas.microsoft.com/office/powerpoint/2010/main" val="1249640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5545BA6-59B5-4E66-AFF1-2BB97AEB99B3}"/>
              </a:ext>
            </a:extLst>
          </p:cNvPr>
          <p:cNvSpPr txBox="1"/>
          <p:nvPr/>
        </p:nvSpPr>
        <p:spPr>
          <a:xfrm>
            <a:off x="1604212" y="1556084"/>
            <a:ext cx="826168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/>
              <a:t>Rappel du contexte de l’enquête :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fr-FR" sz="3600" dirty="0"/>
              <a:t>Enquête menée du 15 au 28 février 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fr-FR" sz="3600" dirty="0"/>
              <a:t>Auprès de 222 visiteurs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0515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CA18BD0-9234-492E-BF0D-0AF75978DEC3}"/>
              </a:ext>
            </a:extLst>
          </p:cNvPr>
          <p:cNvSpPr txBox="1"/>
          <p:nvPr/>
        </p:nvSpPr>
        <p:spPr>
          <a:xfrm>
            <a:off x="1395663" y="1540042"/>
            <a:ext cx="946484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Sommaire </a:t>
            </a:r>
          </a:p>
          <a:p>
            <a:endParaRPr lang="fr-FR" sz="2400" dirty="0"/>
          </a:p>
          <a:p>
            <a:pPr marL="342900" indent="-342900">
              <a:buFont typeface="+mj-lt"/>
              <a:buAutoNum type="arabicPeriod"/>
            </a:pPr>
            <a:r>
              <a:rPr lang="fr-FR" sz="2400" dirty="0"/>
              <a:t>Le point sur le profil des personnes interrogées 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 dirty="0"/>
              <a:t>Le niveau de satisfaction des visiteurs 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 dirty="0"/>
              <a:t>L’attrait pour une visite guidée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 dirty="0"/>
              <a:t>Les freins pour une visite guidée 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 dirty="0"/>
              <a:t>Les propositions en termes de visites guidées </a:t>
            </a:r>
          </a:p>
          <a:p>
            <a:r>
              <a:rPr lang="fr-FR" sz="2400" dirty="0"/>
              <a:t>En conclusion  </a:t>
            </a:r>
          </a:p>
        </p:txBody>
      </p:sp>
    </p:spTree>
    <p:extLst>
      <p:ext uri="{BB962C8B-B14F-4D97-AF65-F5344CB8AC3E}">
        <p14:creationId xmlns:p14="http://schemas.microsoft.com/office/powerpoint/2010/main" val="1903305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CA18BD0-9234-492E-BF0D-0AF75978DEC3}"/>
              </a:ext>
            </a:extLst>
          </p:cNvPr>
          <p:cNvSpPr txBox="1"/>
          <p:nvPr/>
        </p:nvSpPr>
        <p:spPr>
          <a:xfrm>
            <a:off x="1636294" y="382012"/>
            <a:ext cx="9464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sz="2400" b="1" dirty="0"/>
              <a:t>Le point sur le profil des personnes interrogées </a:t>
            </a:r>
          </a:p>
        </p:txBody>
      </p:sp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548D212B-274E-421E-9B48-F83549A0D0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5468811"/>
              </p:ext>
            </p:extLst>
          </p:nvPr>
        </p:nvGraphicFramePr>
        <p:xfrm>
          <a:off x="585536" y="1082843"/>
          <a:ext cx="5751095" cy="30600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76B341FC-0B5E-4FFE-818A-41C8CEB4C4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8782106"/>
              </p:ext>
            </p:extLst>
          </p:nvPr>
        </p:nvGraphicFramePr>
        <p:xfrm>
          <a:off x="6096000" y="2185736"/>
          <a:ext cx="5149516" cy="35894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89991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CA18BD0-9234-492E-BF0D-0AF75978DEC3}"/>
              </a:ext>
            </a:extLst>
          </p:cNvPr>
          <p:cNvSpPr txBox="1"/>
          <p:nvPr/>
        </p:nvSpPr>
        <p:spPr>
          <a:xfrm>
            <a:off x="1363579" y="272716"/>
            <a:ext cx="9464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2. Le niveau de satisfaction des visiteurs </a:t>
            </a:r>
          </a:p>
        </p:txBody>
      </p:sp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3670A500-1117-4452-86EE-D6A48085F3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2416138"/>
              </p:ext>
            </p:extLst>
          </p:nvPr>
        </p:nvGraphicFramePr>
        <p:xfrm>
          <a:off x="665746" y="1399672"/>
          <a:ext cx="5077328" cy="3509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07198826-C6D3-47DE-B99F-2D018B11D9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9345399"/>
              </p:ext>
            </p:extLst>
          </p:nvPr>
        </p:nvGraphicFramePr>
        <p:xfrm>
          <a:off x="6256420" y="2406316"/>
          <a:ext cx="5269833" cy="2955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97379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CA18BD0-9234-492E-BF0D-0AF75978DEC3}"/>
              </a:ext>
            </a:extLst>
          </p:cNvPr>
          <p:cNvSpPr txBox="1"/>
          <p:nvPr/>
        </p:nvSpPr>
        <p:spPr>
          <a:xfrm>
            <a:off x="1459831" y="352926"/>
            <a:ext cx="7122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3.L’attrait pour une visite guidée</a:t>
            </a:r>
          </a:p>
        </p:txBody>
      </p:sp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14C6767F-441A-48DB-B8B0-5D529E2CCC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9336805"/>
              </p:ext>
            </p:extLst>
          </p:nvPr>
        </p:nvGraphicFramePr>
        <p:xfrm>
          <a:off x="609600" y="1187114"/>
          <a:ext cx="5374105" cy="3513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365351"/>
              </p:ext>
            </p:extLst>
          </p:nvPr>
        </p:nvGraphicFramePr>
        <p:xfrm>
          <a:off x="6208297" y="2009274"/>
          <a:ext cx="5374103" cy="3513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413DE26D-406B-40A4-92BE-23DC2AE18F89}"/>
              </a:ext>
            </a:extLst>
          </p:cNvPr>
          <p:cNvSpPr txBox="1"/>
          <p:nvPr/>
        </p:nvSpPr>
        <p:spPr>
          <a:xfrm>
            <a:off x="6914147" y="1588168"/>
            <a:ext cx="3144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Selon le profil du visiteur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1D0BBF0-3463-48B5-9094-9BECB156A72C}"/>
              </a:ext>
            </a:extLst>
          </p:cNvPr>
          <p:cNvSpPr txBox="1"/>
          <p:nvPr/>
        </p:nvSpPr>
        <p:spPr>
          <a:xfrm>
            <a:off x="1187116" y="4700335"/>
            <a:ext cx="4138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120 personnes potentiellement intéressées</a:t>
            </a:r>
          </a:p>
        </p:txBody>
      </p:sp>
    </p:spTree>
    <p:extLst>
      <p:ext uri="{BB962C8B-B14F-4D97-AF65-F5344CB8AC3E}">
        <p14:creationId xmlns:p14="http://schemas.microsoft.com/office/powerpoint/2010/main" val="236364256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 Design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6666"/>
        </a:dk1>
        <a:lt1>
          <a:srgbClr val="FFFFFF"/>
        </a:lt1>
        <a:dk2>
          <a:srgbClr val="5E761C"/>
        </a:dk2>
        <a:lt2>
          <a:srgbClr val="777777"/>
        </a:lt2>
        <a:accent1>
          <a:srgbClr val="D5F470"/>
        </a:accent1>
        <a:accent2>
          <a:srgbClr val="EDCCFB"/>
        </a:accent2>
        <a:accent3>
          <a:srgbClr val="FFFFFF"/>
        </a:accent3>
        <a:accent4>
          <a:srgbClr val="005656"/>
        </a:accent4>
        <a:accent5>
          <a:srgbClr val="E7F8BB"/>
        </a:accent5>
        <a:accent6>
          <a:srgbClr val="D7B9E3"/>
        </a:accent6>
        <a:hlink>
          <a:srgbClr val="FF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D5F470"/>
        </a:accent1>
        <a:accent2>
          <a:srgbClr val="EDC9FB"/>
        </a:accent2>
        <a:accent3>
          <a:srgbClr val="FFFFFF"/>
        </a:accent3>
        <a:accent4>
          <a:srgbClr val="000000"/>
        </a:accent4>
        <a:accent5>
          <a:srgbClr val="E7F8BB"/>
        </a:accent5>
        <a:accent6>
          <a:srgbClr val="D7B6E3"/>
        </a:accent6>
        <a:hlink>
          <a:srgbClr val="BFC3F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6600"/>
        </a:dk2>
        <a:lt2>
          <a:srgbClr val="808080"/>
        </a:lt2>
        <a:accent1>
          <a:srgbClr val="FF6237"/>
        </a:accent1>
        <a:accent2>
          <a:srgbClr val="5F7BF1"/>
        </a:accent2>
        <a:accent3>
          <a:srgbClr val="FFFFFF"/>
        </a:accent3>
        <a:accent4>
          <a:srgbClr val="000000"/>
        </a:accent4>
        <a:accent5>
          <a:srgbClr val="FFB7AE"/>
        </a:accent5>
        <a:accent6>
          <a:srgbClr val="556FDA"/>
        </a:accent6>
        <a:hlink>
          <a:srgbClr val="15DF1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663300"/>
        </a:dk2>
        <a:lt2>
          <a:srgbClr val="808080"/>
        </a:lt2>
        <a:accent1>
          <a:srgbClr val="76C082"/>
        </a:accent1>
        <a:accent2>
          <a:srgbClr val="E3B06D"/>
        </a:accent2>
        <a:accent3>
          <a:srgbClr val="FFFFFF"/>
        </a:accent3>
        <a:accent4>
          <a:srgbClr val="000000"/>
        </a:accent4>
        <a:accent5>
          <a:srgbClr val="BDDCC1"/>
        </a:accent5>
        <a:accent6>
          <a:srgbClr val="CE9F62"/>
        </a:accent6>
        <a:hlink>
          <a:srgbClr val="D8EC42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27907A6857764CA978A2DA3C378C20" ma:contentTypeVersion="9" ma:contentTypeDescription="Crée un document." ma:contentTypeScope="" ma:versionID="68a11b05b780f0ecbccd66bf95e1f301">
  <xsd:schema xmlns:xsd="http://www.w3.org/2001/XMLSchema" xmlns:xs="http://www.w3.org/2001/XMLSchema" xmlns:p="http://schemas.microsoft.com/office/2006/metadata/properties" xmlns:ns2="82905250-58d4-4cac-bb0d-b4661e42aa10" xmlns:ns3="83a265cd-4431-46b8-a7ba-0250525921fc" targetNamespace="http://schemas.microsoft.com/office/2006/metadata/properties" ma:root="true" ma:fieldsID="79e6225e35e331f976f59efe8e30220b" ns2:_="" ns3:_="">
    <xsd:import namespace="82905250-58d4-4cac-bb0d-b4661e42aa10"/>
    <xsd:import namespace="83a265cd-4431-46b8-a7ba-0250525921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905250-58d4-4cac-bb0d-b4661e42aa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e0316926-e272-4302-89b0-5e160602c2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a265cd-4431-46b8-a7ba-0250525921fc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b1161bc-43bf-41a1-9c50-cb7d2b21db1b}" ma:internalName="TaxCatchAll" ma:showField="CatchAllData" ma:web="83a265cd-4431-46b8-a7ba-0250525921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3a265cd-4431-46b8-a7ba-0250525921fc" xsi:nil="true"/>
    <lcf76f155ced4ddcb4097134ff3c332f xmlns="82905250-58d4-4cac-bb0d-b4661e42aa1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94DC5B8-CB32-4856-B393-95094CD241BC}"/>
</file>

<file path=customXml/itemProps2.xml><?xml version="1.0" encoding="utf-8"?>
<ds:datastoreItem xmlns:ds="http://schemas.openxmlformats.org/officeDocument/2006/customXml" ds:itemID="{856F68E0-2CFF-408F-85CC-BFD95A143677}"/>
</file>

<file path=customXml/itemProps3.xml><?xml version="1.0" encoding="utf-8"?>
<ds:datastoreItem xmlns:ds="http://schemas.openxmlformats.org/officeDocument/2006/customXml" ds:itemID="{94FBDFF7-9753-436D-A77E-BEDA870046F8}"/>
</file>

<file path=docProps/app.xml><?xml version="1.0" encoding="utf-8"?>
<Properties xmlns="http://schemas.openxmlformats.org/officeDocument/2006/extended-properties" xmlns:vt="http://schemas.openxmlformats.org/officeDocument/2006/docPropsVTypes">
  <Template>Thème6</Template>
  <TotalTime>70</TotalTime>
  <Words>116</Words>
  <Application>Microsoft Office PowerPoint</Application>
  <PresentationFormat>Grand écran</PresentationFormat>
  <Paragraphs>26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굴림</vt:lpstr>
      <vt:lpstr>Century Gothic</vt:lpstr>
      <vt:lpstr>Wingdings</vt:lpstr>
      <vt:lpstr>Thème6</vt:lpstr>
      <vt:lpstr>Réunion du 18 mars 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Réunion du</dc:title>
  <dc:creator>isabelle chaupart</dc:creator>
  <cp:lastModifiedBy>isabelle chaupart</cp:lastModifiedBy>
  <cp:revision>7</cp:revision>
  <dcterms:created xsi:type="dcterms:W3CDTF">2018-10-05T12:22:33Z</dcterms:created>
  <dcterms:modified xsi:type="dcterms:W3CDTF">2018-10-08T17:22:40Z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0x0101004D27907A6857764CA978A2DA3C378C20</vt:lpwstr>
  </property>
</Properties>
</file>